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914400"/>
            <a:ext cx="1371600" cy="13716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FF4500"/>
                </a:solidFill>
                <a:latin typeface="Microsoft YaHei"/>
              </a:rPr>
              <a:t>群像·星火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Microsoft YaHei"/>
              </a:rPr>
              <a:t>基于真实职业经验的多人协同创作平台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D700"/>
                </a:solidFill>
                <a:latin typeface="Microsoft YaHei"/>
              </a:rPr>
              <a:t>让真实的人，在真实的情境中，碰撞出真实的火花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754880"/>
            <a:ext cx="2103120" cy="36576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677"/>
                </a:solidFill>
                <a:latin typeface="Microsoft YaHei"/>
              </a:rPr>
              <a:t>TDD v4.0  |  216 Tests Passed  |  Next.js 16 + DeepSeek AI  |  Socket.io 实时通信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77"/>
                </a:solidFill>
                <a:latin typeface="Microsoft YaHei"/>
              </a:rPr>
              <a:t>1/10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77"/>
                </a:solidFill>
                <a:latin typeface="Microsoft YaHei"/>
              </a:rPr>
              <a:t>群像·星火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4500"/>
                </a:solidFill>
                <a:latin typeface="Microsoft YaHei"/>
              </a:rPr>
              <a:t>创作者的困境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645920"/>
            <a:ext cx="3657600" cy="365760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0" b="1">
                <a:solidFill>
                  <a:srgbClr val="131323"/>
                </a:solidFill>
                <a:latin typeface="Microsoft YaHei"/>
              </a:rP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6400800" cy="1371600"/>
          </a:xfrm>
          <a:prstGeom prst="roundRect">
            <a:avLst/>
          </a:prstGeom>
          <a:solidFill>
            <a:srgbClr val="222235"/>
          </a:solidFill>
          <a:ln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2344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4500"/>
                </a:solidFill>
                <a:latin typeface="Microsoft YaHei"/>
              </a:rPr>
              <a:t>专业细节，写不对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783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66677"/>
                </a:solidFill>
                <a:latin typeface="Microsoft YaHei"/>
              </a:rPr>
              <a:t>急诊流程 / 律师质证 / 外卖跑单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834639"/>
            <a:ext cx="6400800" cy="1371600"/>
          </a:xfrm>
          <a:prstGeom prst="roundRect">
            <a:avLst/>
          </a:prstGeom>
          <a:solidFill>
            <a:srgbClr val="222235"/>
          </a:solidFill>
          <a:ln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97179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4500"/>
                </a:solidFill>
                <a:latin typeface="Microsoft YaHei"/>
              </a:rPr>
              <a:t>视角单一，写不深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5204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66677"/>
                </a:solidFill>
                <a:latin typeface="Microsoft YaHei"/>
              </a:rPr>
              <a:t>采访了医生，没采访护士和家属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4572000"/>
            <a:ext cx="6400800" cy="1371600"/>
          </a:xfrm>
          <a:prstGeom prst="roundRect">
            <a:avLst/>
          </a:prstGeom>
          <a:solidFill>
            <a:srgbClr val="222235"/>
          </a:solidFill>
          <a:ln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4709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4500"/>
                </a:solidFill>
                <a:latin typeface="Microsoft YaHei"/>
              </a:rPr>
              <a:t>有经历的人，没渠道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66677"/>
                </a:solidFill>
                <a:latin typeface="Microsoft YaHei"/>
              </a:rPr>
              <a:t>退休阿姨 / 急诊护士 / 程序员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77"/>
                </a:solidFill>
                <a:latin typeface="Microsoft YaHei"/>
              </a:rPr>
              <a:t>2/10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77"/>
                </a:solidFill>
                <a:latin typeface="Microsoft YaHei"/>
              </a:rPr>
              <a:t>群像·星火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4500"/>
                </a:solidFill>
                <a:latin typeface="Microsoft YaHei"/>
              </a:rPr>
              <a:t>群像·星火是什么？</a:t>
            </a:r>
          </a:p>
        </p:txBody>
      </p:sp>
      <p:sp>
        <p:nvSpPr>
          <p:cNvPr id="3" name="Oval 2"/>
          <p:cNvSpPr/>
          <p:nvPr/>
        </p:nvSpPr>
        <p:spPr>
          <a:xfrm>
            <a:off x="3200400" y="1828800"/>
            <a:ext cx="2743200" cy="2743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7432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医生</a:t>
            </a:r>
          </a:p>
        </p:txBody>
      </p:sp>
      <p:sp>
        <p:nvSpPr>
          <p:cNvPr id="5" name="Oval 4"/>
          <p:cNvSpPr/>
          <p:nvPr/>
        </p:nvSpPr>
        <p:spPr>
          <a:xfrm>
            <a:off x="5029200" y="2286000"/>
            <a:ext cx="2011680" cy="201168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9260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31323"/>
                </a:solidFill>
                <a:latin typeface="Microsoft YaHei"/>
              </a:rPr>
              <a:t>碰撞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828800"/>
            <a:ext cx="2743200" cy="27432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导演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</a:rPr>
              <a:t>不同职业的人被扔进同一冲突情境，用各自的职业本能碰撞出火花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D700"/>
                </a:solidFill>
                <a:latin typeface="Microsoft YaHei"/>
              </a:rPr>
              <a:t>不是 AI 替代人类，而是让真实的人、真实的经验、真实的碰撞成为创作原材料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77"/>
                </a:solidFill>
                <a:latin typeface="Microsoft YaHei"/>
              </a:rPr>
              <a:t>3/10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77"/>
                </a:solidFill>
                <a:latin typeface="Microsoft YaHei"/>
              </a:rPr>
              <a:t>群像·星火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4500"/>
                </a:solidFill>
                <a:latin typeface="Microsoft YaHei"/>
              </a:rPr>
              <a:t>模式一：单人灵感积累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31323"/>
                </a:solidFill>
                <a:latin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17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选择身份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83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77"/>
                </a:solidFill>
                <a:latin typeface="Microsoft YaHei"/>
              </a:rPr>
              <a:t>医生 / 导演 / 外卖员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51760"/>
            <a:ext cx="640080" cy="64008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31323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9747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浏览脑洞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63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77"/>
                </a:solidFill>
                <a:latin typeface="Microsoft YaHei"/>
              </a:rPr>
              <a:t>左滑跳过 · 右滑收藏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931920"/>
            <a:ext cx="640080" cy="64008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5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31323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7763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AI 催化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43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77"/>
                </a:solidFill>
                <a:latin typeface="Microsoft YaHei"/>
              </a:rPr>
              <a:t>DeepSeek 生成引导问题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212079"/>
            <a:ext cx="640080" cy="64008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0351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31323"/>
                </a:solidFill>
                <a:latin typeface="Microsoft Ya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25779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存入素材库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62355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66677"/>
                </a:solidFill>
                <a:latin typeface="Microsoft YaHei"/>
              </a:rPr>
              <a:t>语音 / 文字反应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188720"/>
            <a:ext cx="2926080" cy="4754880"/>
          </a:xfrm>
          <a:prstGeom prst="roundRect">
            <a:avLst/>
          </a:prstGeom>
          <a:solidFill>
            <a:srgbClr val="0A0A18"/>
          </a:solidFill>
          <a:ln w="381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4630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深夜急诊室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2011680"/>
            <a:ext cx="2560320" cy="1280160"/>
          </a:xfrm>
          <a:prstGeom prst="roundRect">
            <a:avLst/>
          </a:prstGeom>
          <a:solidFill>
            <a:srgbClr val="2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2860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66677"/>
                </a:solidFill>
                <a:latin typeface="Microsoft YaHei"/>
              </a:rPr>
              <a:t>外卖员因</a:t>
            </a:r>
            <a:br/>
            <a:r>
              <a:rPr sz="1200" b="0">
                <a:solidFill>
                  <a:srgbClr val="666677"/>
                </a:solidFill>
                <a:latin typeface="Microsoft YaHei"/>
              </a:rPr>
              <a:t>过度劳累晕倒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3566160"/>
            <a:ext cx="2560320" cy="914400"/>
          </a:xfrm>
          <a:prstGeom prst="round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3794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31323"/>
                </a:solidFill>
                <a:latin typeface="Microsoft YaHei"/>
              </a:rPr>
              <a:t>你首先会关注</a:t>
            </a:r>
            <a:br/>
            <a:r>
              <a:rPr sz="1200" b="1">
                <a:solidFill>
                  <a:srgbClr val="131323"/>
                </a:solidFill>
                <a:latin typeface="Microsoft YaHei"/>
              </a:rPr>
              <a:t>哪些生命体征？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5029200"/>
            <a:ext cx="548640" cy="548640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1206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4500"/>
                </a:solidFill>
                <a:latin typeface="Microsoft YaHei"/>
              </a:rPr>
              <a:t>mic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6459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FF4500"/>
                </a:solidFill>
                <a:latin typeface="Microsoft YaHei"/>
              </a:rPr>
              <a:t>5+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651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666677"/>
                </a:solidFill>
                <a:latin typeface="Microsoft YaHei"/>
              </a:rPr>
              <a:t>职业标签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6576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FF4500"/>
                </a:solidFill>
                <a:latin typeface="Microsoft YaHei"/>
              </a:rPr>
              <a:t>60+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663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666677"/>
                </a:solidFill>
                <a:latin typeface="Microsoft YaHei"/>
              </a:rPr>
              <a:t>引导问题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77"/>
                </a:solidFill>
                <a:latin typeface="Microsoft YaHei"/>
              </a:rPr>
              <a:t>4/10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77"/>
                </a:solidFill>
                <a:latin typeface="Microsoft YaHei"/>
              </a:rPr>
              <a:t>群像·星火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4500"/>
                </a:solidFill>
                <a:latin typeface="Microsoft YaHei"/>
              </a:rPr>
              <a:t>模式二：双人即兴碰撞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1645920"/>
            <a:ext cx="2743200" cy="2743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651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医生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先推肾上腺素！</a:t>
            </a:r>
            <a:br/>
            <a:r>
              <a:rPr sz="1600" b="0">
                <a:solidFill>
                  <a:srgbClr val="FFFFFF"/>
                </a:solidFill>
                <a:latin typeface="Microsoft YaHei"/>
              </a:rPr>
              <a:t>患者室颤了！</a:t>
            </a:r>
          </a:p>
        </p:txBody>
      </p:sp>
      <p:sp>
        <p:nvSpPr>
          <p:cNvPr id="6" name="Oval 5"/>
          <p:cNvSpPr/>
          <p:nvPr/>
        </p:nvSpPr>
        <p:spPr>
          <a:xfrm>
            <a:off x="7589520" y="1645920"/>
            <a:ext cx="2743200" cy="27432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2651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导演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4572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等等，情绪高潮</a:t>
            </a:r>
            <a:br/>
            <a:r>
              <a:rPr sz="1600" b="0">
                <a:solidFill>
                  <a:srgbClr val="FFFFFF"/>
                </a:solidFill>
                <a:latin typeface="Microsoft YaHei"/>
              </a:rPr>
              <a:t>应该在后面</a:t>
            </a:r>
          </a:p>
        </p:txBody>
      </p:sp>
      <p:sp>
        <p:nvSpPr>
          <p:cNvPr id="9" name="Oval 8"/>
          <p:cNvSpPr/>
          <p:nvPr/>
        </p:nvSpPr>
        <p:spPr>
          <a:xfrm>
            <a:off x="5029200" y="2103120"/>
            <a:ext cx="2011680" cy="201168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74320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31323"/>
                </a:solidFill>
                <a:latin typeface="Microsoft YaHei"/>
              </a:rPr>
              <a:t>碰撞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4500"/>
                </a:solidFill>
                <a:latin typeface="Microsoft YaHei"/>
              </a:rPr>
              <a:t>60s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77"/>
                </a:solidFill>
                <a:latin typeface="Microsoft YaHei"/>
              </a:rPr>
              <a:t>匹配等待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4500"/>
                </a:solidFill>
                <a:latin typeface="Microsoft YaHei"/>
              </a:rPr>
              <a:t>&lt;100ms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77"/>
                </a:solidFill>
                <a:latin typeface="Microsoft YaHei"/>
              </a:rPr>
              <a:t>WebSocket同步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4500"/>
                </a:solidFill>
                <a:latin typeface="Microsoft YaHei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77"/>
                </a:solidFill>
                <a:latin typeface="Microsoft YaHei"/>
              </a:rPr>
              <a:t>自动串联剧本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77"/>
                </a:solidFill>
                <a:latin typeface="Microsoft YaHei"/>
              </a:rPr>
              <a:t>5/10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77"/>
                </a:solidFill>
                <a:latin typeface="Microsoft YaHei"/>
              </a:rPr>
              <a:t>群像·星火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4500"/>
                </a:solidFill>
                <a:latin typeface="Microsoft YaHei"/>
              </a:rPr>
              <a:t>模式三：多人剧本共创</a:t>
            </a:r>
          </a:p>
        </p:txBody>
      </p:sp>
      <p:sp>
        <p:nvSpPr>
          <p:cNvPr id="3" name="Oval 2"/>
          <p:cNvSpPr/>
          <p:nvPr/>
        </p:nvSpPr>
        <p:spPr>
          <a:xfrm>
            <a:off x="4846320" y="1097280"/>
            <a:ext cx="2560320" cy="256032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0" y="2011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31323"/>
                </a:solidFill>
                <a:latin typeface="Microsoft YaHei"/>
              </a:rPr>
              <a:t>导演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1371600"/>
            <a:ext cx="1463040" cy="1463040"/>
          </a:xfrm>
          <a:prstGeom prst="ellipse">
            <a:avLst/>
          </a:prstGeom>
          <a:solidFill>
            <a:srgbClr val="222235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医生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1371600"/>
            <a:ext cx="1463040" cy="1463040"/>
          </a:xfrm>
          <a:prstGeom prst="ellipse">
            <a:avLst/>
          </a:prstGeom>
          <a:solidFill>
            <a:srgbClr val="222235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护士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200400"/>
            <a:ext cx="1463040" cy="1463040"/>
          </a:xfrm>
          <a:prstGeom prst="ellipse">
            <a:avLst/>
          </a:prstGeom>
          <a:solidFill>
            <a:srgbClr val="222235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家属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0" y="3200400"/>
            <a:ext cx="1463040" cy="1463040"/>
          </a:xfrm>
          <a:prstGeom prst="ellipse">
            <a:avLst/>
          </a:prstGeom>
          <a:solidFill>
            <a:srgbClr val="222235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6576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律师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572000"/>
            <a:ext cx="1371600" cy="548640"/>
          </a:xfrm>
          <a:prstGeom prst="roundRect">
            <a:avLst/>
          </a:prstGeom>
          <a:solidFill>
            <a:srgbClr val="222235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663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4500"/>
                </a:solidFill>
                <a:latin typeface="Microsoft YaHei"/>
              </a:rPr>
              <a:t>暂停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572000"/>
            <a:ext cx="1371600" cy="548640"/>
          </a:xfrm>
          <a:prstGeom prst="roundRect">
            <a:avLst/>
          </a:prstGeom>
          <a:solidFill>
            <a:srgbClr val="222235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4500"/>
                </a:solidFill>
                <a:latin typeface="Microsoft YaHei"/>
              </a:rPr>
              <a:t>投票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572000"/>
            <a:ext cx="1371600" cy="548640"/>
          </a:xfrm>
          <a:prstGeom prst="roundRect">
            <a:avLst/>
          </a:prstGeom>
          <a:solidFill>
            <a:srgbClr val="222235"/>
          </a:solidFill>
          <a:ln>
            <a:solidFill>
              <a:srgbClr val="FF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663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4500"/>
                </a:solidFill>
                <a:latin typeface="Microsoft YaHei"/>
              </a:rPr>
              <a:t>杀青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645920" cy="411480"/>
          </a:xfrm>
          <a:prstGeom prst="roundRect">
            <a:avLst/>
          </a:prstGeom>
          <a:solidFill>
            <a:srgbClr val="222235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5955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创建副本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5486400"/>
            <a:ext cx="1645920" cy="411480"/>
          </a:xfrm>
          <a:prstGeom prst="roundRect">
            <a:avLst/>
          </a:prstGeom>
          <a:solidFill>
            <a:srgbClr val="222235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555955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认领角色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5486400"/>
            <a:ext cx="1645920" cy="411480"/>
          </a:xfrm>
          <a:prstGeom prst="roundRect">
            <a:avLst/>
          </a:prstGeom>
          <a:solidFill>
            <a:srgbClr val="222235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555955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导演控场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5486400"/>
            <a:ext cx="1645920" cy="411480"/>
          </a:xfrm>
          <a:prstGeom prst="roundRect">
            <a:avLst/>
          </a:prstGeom>
          <a:solidFill>
            <a:srgbClr val="222235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55955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投票决策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5486400"/>
            <a:ext cx="1645920" cy="411480"/>
          </a:xfrm>
          <a:prstGeom prst="roundRect">
            <a:avLst/>
          </a:prstGeom>
          <a:solidFill>
            <a:srgbClr val="222235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555955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AI串联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5486400"/>
            <a:ext cx="1645920" cy="411480"/>
          </a:xfrm>
          <a:prstGeom prst="roundRect">
            <a:avLst/>
          </a:prstGeom>
          <a:solidFill>
            <a:srgbClr val="222235"/>
          </a:solidFill>
          <a:ln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555955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署名墙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77"/>
                </a:solidFill>
                <a:latin typeface="Microsoft YaHei"/>
              </a:rPr>
              <a:t>6/10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77"/>
                </a:solidFill>
                <a:latin typeface="Microsoft YaHei"/>
              </a:rPr>
              <a:t>群像·星火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4500"/>
                </a:solidFill>
                <a:latin typeface="Microsoft YaHei"/>
              </a:rPr>
              <a:t>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280160"/>
            <a:ext cx="731520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463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Next.js 16 + React 19 + Tailwind v4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286000"/>
            <a:ext cx="731520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API Routes + NextAuth + Zod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291840"/>
            <a:ext cx="7315200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Socket.io + match-engine + room-manager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4297680"/>
            <a:ext cx="731520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480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Prisma 7 +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666677"/>
                </a:solidFill>
                <a:latin typeface="Microsoft YaHei"/>
              </a:rPr>
              <a:t>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666677"/>
                </a:solidFill>
                <a:latin typeface="Microsoft YaHei"/>
              </a:rPr>
              <a:t>API层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666677"/>
                </a:solidFill>
                <a:latin typeface="Microsoft YaHei"/>
              </a:rPr>
              <a:t>业务层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666677"/>
                </a:solidFill>
                <a:latin typeface="Microsoft YaHei"/>
              </a:rPr>
              <a:t>数据层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1828800"/>
            <a:ext cx="1645920" cy="1645920"/>
          </a:xfrm>
          <a:prstGeom prst="roundRect">
            <a:avLst/>
          </a:prstGeom>
          <a:solidFill>
            <a:srgbClr val="11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23774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DeepSeek</a:t>
            </a:r>
            <a:br/>
            <a:r>
              <a:rPr sz="1400" b="1">
                <a:solidFill>
                  <a:srgbClr val="FFFFFF"/>
                </a:solidFill>
                <a:latin typeface="Microsoft YaHei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035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>
                <a:solidFill>
                  <a:srgbClr val="22C55E"/>
                </a:solidFill>
                <a:latin typeface="Microsoft YaHei"/>
              </a:rPr>
              <a:t>216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677"/>
                </a:solidFill>
                <a:latin typeface="Microsoft YaHei"/>
              </a:rPr>
              <a:t>Tests 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3035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>
                <a:solidFill>
                  <a:srgbClr val="FF4500"/>
                </a:solidFill>
                <a:latin typeface="Microsoft YaHei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677"/>
                </a:solidFill>
                <a:latin typeface="Microsoft YaHei"/>
              </a:rPr>
              <a:t>Test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3035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>
                <a:solidFill>
                  <a:srgbClr val="22C55E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677"/>
                </a:solidFill>
                <a:latin typeface="Microsoft YaHei"/>
              </a:rPr>
              <a:t>Failed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77"/>
                </a:solidFill>
                <a:latin typeface="Microsoft YaHei"/>
              </a:rPr>
              <a:t>7/10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77"/>
                </a:solidFill>
                <a:latin typeface="Microsoft YaHei"/>
              </a:rPr>
              <a:t>群像·星火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4500"/>
                </a:solidFill>
                <a:latin typeface="Microsoft YaHei"/>
              </a:rPr>
              <a:t>商业模式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4572000"/>
            <a:ext cx="8503920" cy="12801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31323"/>
                </a:solidFill>
                <a:latin typeface="Microsoft YaHei"/>
              </a:rPr>
              <a:t>C 端免费增值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3492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31323"/>
                </a:solidFill>
                <a:latin typeface="Microsoft YaHei"/>
              </a:rPr>
              <a:t>基础免费 + AI高级功能付费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926080"/>
            <a:ext cx="5760720" cy="12801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3108960"/>
            <a:ext cx="5760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B 端内容采购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70332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微短剧公司 / 互动小说平台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280160"/>
            <a:ext cx="3017520" cy="1280160"/>
          </a:xfrm>
          <a:prstGeom prst="roundRect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31323"/>
                </a:solidFill>
                <a:latin typeface="Microsoft YaHei"/>
              </a:rPr>
              <a:t>IP 共创分润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31323"/>
                </a:solidFill>
                <a:latin typeface="Microsoft YaHei"/>
              </a:rPr>
              <a:t>剧本 / 短剧 / 有声书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77"/>
                </a:solidFill>
                <a:latin typeface="Microsoft YaHei"/>
              </a:rPr>
              <a:t>8/10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77"/>
                </a:solidFill>
                <a:latin typeface="Microsoft YaHei"/>
              </a:rPr>
              <a:t>群像·星火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4500"/>
                </a:solidFill>
                <a:latin typeface="Microsoft YaHei"/>
              </a:rPr>
              <a:t>里程碑与成果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83464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4500"/>
                </a:solidFill>
                <a:latin typeface="Microsoft YaHe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9" y="329184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匹配引擎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4023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2C55E"/>
                </a:solidFill>
                <a:latin typeface="Microsoft YaHei"/>
              </a:rPr>
              <a:t>9 tests</a:t>
            </a:r>
          </a:p>
        </p:txBody>
      </p:sp>
      <p:sp>
        <p:nvSpPr>
          <p:cNvPr id="8" name="Oval 7"/>
          <p:cNvSpPr/>
          <p:nvPr/>
        </p:nvSpPr>
        <p:spPr>
          <a:xfrm>
            <a:off x="3840480" y="283464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4500"/>
                </a:solidFill>
                <a:latin typeface="Microsoft YaHei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29184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房间管理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023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2C55E"/>
                </a:solidFill>
                <a:latin typeface="Microsoft YaHei"/>
              </a:rPr>
              <a:t>16 tests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283464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4500"/>
                </a:solidFill>
                <a:latin typeface="Microsoft YaHei"/>
              </a:rP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29184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WebSocket</a:t>
            </a:r>
            <a:br/>
            <a:r>
              <a:rPr sz="1600" b="0">
                <a:solidFill>
                  <a:srgbClr val="FFFFFF"/>
                </a:solidFill>
                <a:latin typeface="Microsoft YaHei"/>
              </a:rPr>
              <a:t>+ AI串联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023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2C55E"/>
                </a:solidFill>
                <a:latin typeface="Microsoft YaHei"/>
              </a:rPr>
              <a:t>21 tests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0" y="2834640"/>
            <a:ext cx="365760" cy="36576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59" y="21031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4500"/>
                </a:solidFill>
                <a:latin typeface="Microsoft YaHei"/>
              </a:rP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329184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TDD全覆盖</a:t>
            </a:r>
            <a:br/>
            <a:r>
              <a:rPr sz="1600" b="0">
                <a:solidFill>
                  <a:srgbClr val="FFFFFF"/>
                </a:solidFill>
                <a:latin typeface="Microsoft YaHei"/>
              </a:rPr>
              <a:t>+ AI催化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4023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22C55E"/>
                </a:solidFill>
                <a:latin typeface="Microsoft YaHei"/>
              </a:rPr>
              <a:t>216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0" b="1">
                <a:solidFill>
                  <a:srgbClr val="22C55E"/>
                </a:solidFill>
                <a:latin typeface="Microsoft YaHei"/>
              </a:rPr>
              <a:t>216 / 216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677"/>
                </a:solidFill>
                <a:latin typeface="Microsoft YaHei"/>
              </a:rPr>
              <a:t>All Tests Passed  |  23 Test Files  |  22 API Routes Covered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77"/>
                </a:solidFill>
                <a:latin typeface="Microsoft YaHei"/>
              </a:rPr>
              <a:t>9/10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77"/>
                </a:solidFill>
                <a:latin typeface="Microsoft YaHei"/>
              </a:rPr>
              <a:t>群像·星火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FF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>
                <a:solidFill>
                  <a:srgbClr val="FF4500"/>
                </a:solidFill>
                <a:latin typeface="Microsoft YaHei"/>
              </a:rPr>
              <a:t>最好的故事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"/>
              </a:rPr>
              <a:t>不是一个人关在房间里写出来的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FFD700"/>
                </a:solidFill>
                <a:latin typeface="Microsoft YaHei"/>
              </a:rPr>
              <a:t>而是让真实的人在真实的情境中碰撞出来的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4500"/>
                </a:solidFill>
                <a:latin typeface="Microsoft YaHei"/>
              </a:rPr>
              <a:t>谢谢大家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66677"/>
                </a:solidFill>
                <a:latin typeface="Microsoft YaHei"/>
              </a:rPr>
              <a:t>github.com/qunxiang-xinghuo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77"/>
                </a:solidFill>
                <a:latin typeface="Microsoft YaHei"/>
              </a:rPr>
              <a:t>10/10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77"/>
                </a:solidFill>
                <a:latin typeface="Microsoft YaHei"/>
              </a:rPr>
              <a:t>群像·星火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47120" cy="9144"/>
          </a:xfrm>
          <a:prstGeom prst="rect">
            <a:avLst/>
          </a:prstGeom>
          <a:solidFill>
            <a:srgbClr val="66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