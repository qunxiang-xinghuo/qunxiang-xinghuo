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914400"/>
            <a:ext cx="3657600" cy="365760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3657600"/>
            <a:ext cx="2743200" cy="274320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4500"/>
                </a:solidFill>
                <a:latin typeface="Microsoft YaHei"/>
              </a:rPr>
              <a:t>群像·星火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YaHei"/>
              </a:rPr>
              <a:t>基于真实职业经验的多人协同创作平台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D700"/>
                </a:solidFill>
                <a:latin typeface="Microsoft YaHei"/>
              </a:rPr>
              <a:t>让真实的人，在真实的情境中，碰撞出真实的火花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846320"/>
            <a:ext cx="2743200" cy="36576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99"/>
                </a:solidFill>
                <a:latin typeface="Microsoft YaHei"/>
              </a:rPr>
              <a:t>TDD v4.0  |  216 Tests Passed  |  Next.js 16 + DeepSeek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1645920"/>
            <a:ext cx="3200400" cy="320040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>
                <a:solidFill>
                  <a:srgbClr val="1A1A2E"/>
                </a:solidFill>
                <a:latin typeface="Microsoft YaHe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4500"/>
                </a:solidFill>
                <a:latin typeface="Microsoft YaHei"/>
              </a:rPr>
              <a:t>创作者的困境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011680"/>
            <a:ext cx="4114800" cy="1097280"/>
          </a:xfrm>
          <a:prstGeom prst="roundRect">
            <a:avLst/>
          </a:prstGeom>
          <a:solidFill>
            <a:srgbClr val="25253A"/>
          </a:solidFill>
          <a:ln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4500"/>
                </a:solidFill>
                <a:latin typeface="Microsoft YaHei"/>
              </a:rPr>
              <a:t>专业细节，写不对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99"/>
                </a:solidFill>
                <a:latin typeface="Microsoft YaHei"/>
              </a:rPr>
              <a:t>急诊流程 / 律师质证 / 外卖跑单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383280"/>
            <a:ext cx="4114800" cy="1097280"/>
          </a:xfrm>
          <a:prstGeom prst="roundRect">
            <a:avLst/>
          </a:prstGeom>
          <a:solidFill>
            <a:srgbClr val="25253A"/>
          </a:solidFill>
          <a:ln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3520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4500"/>
                </a:solidFill>
                <a:latin typeface="Microsoft YaHei"/>
              </a:rPr>
              <a:t>视角单一，写不深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99"/>
                </a:solidFill>
                <a:latin typeface="Microsoft YaHei"/>
              </a:rPr>
              <a:t>编剧只采访了医生，没采访护士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4754880"/>
            <a:ext cx="4114800" cy="1097280"/>
          </a:xfrm>
          <a:prstGeom prst="roundRect">
            <a:avLst/>
          </a:prstGeom>
          <a:solidFill>
            <a:srgbClr val="25253A"/>
          </a:solidFill>
          <a:ln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4892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4500"/>
                </a:solidFill>
                <a:latin typeface="Microsoft YaHei"/>
              </a:rPr>
              <a:t>有经历的人，没渠道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99"/>
                </a:solidFill>
                <a:latin typeface="Microsoft YaHei"/>
              </a:rPr>
              <a:t>退休阿姨 / 急诊护士 / 程序员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4500"/>
                </a:solidFill>
                <a:latin typeface="Microsoft YaHei"/>
              </a:rPr>
              <a:t>群像·星火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88899"/>
                </a:solidFill>
                <a:latin typeface="Microsoft YaHei"/>
              </a:rPr>
              <a:t>基于真实职业经验的多人协同创作平台</a:t>
            </a:r>
          </a:p>
        </p:txBody>
      </p:sp>
      <p:sp>
        <p:nvSpPr>
          <p:cNvPr id="4" name="Oval 3"/>
          <p:cNvSpPr/>
          <p:nvPr/>
        </p:nvSpPr>
        <p:spPr>
          <a:xfrm>
            <a:off x="2286000" y="2560320"/>
            <a:ext cx="1828800" cy="1828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医生</a:t>
            </a:r>
          </a:p>
        </p:txBody>
      </p:sp>
      <p:sp>
        <p:nvSpPr>
          <p:cNvPr id="6" name="Oval 5"/>
          <p:cNvSpPr/>
          <p:nvPr/>
        </p:nvSpPr>
        <p:spPr>
          <a:xfrm>
            <a:off x="5029200" y="2560320"/>
            <a:ext cx="1828800" cy="18288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导演</a:t>
            </a:r>
          </a:p>
        </p:txBody>
      </p:sp>
      <p:sp>
        <p:nvSpPr>
          <p:cNvPr id="8" name="Oval 7"/>
          <p:cNvSpPr/>
          <p:nvPr/>
        </p:nvSpPr>
        <p:spPr>
          <a:xfrm>
            <a:off x="3931920" y="3017520"/>
            <a:ext cx="1280160" cy="128016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33832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  <a:latin typeface="Microsoft YaHei"/>
              </a:rPr>
              <a:t>碰撞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303520"/>
            <a:ext cx="1280160" cy="457200"/>
          </a:xfrm>
          <a:prstGeom prst="roundRect">
            <a:avLst/>
          </a:prstGeom>
          <a:solidFill>
            <a:srgbClr val="25253A"/>
          </a:solidFill>
          <a:ln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3766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4500"/>
                </a:solidFill>
                <a:latin typeface="Microsoft YaHei"/>
              </a:rPr>
              <a:t>真实身份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5303520"/>
            <a:ext cx="1280160" cy="457200"/>
          </a:xfrm>
          <a:prstGeom prst="roundRect">
            <a:avLst/>
          </a:prstGeom>
          <a:solidFill>
            <a:srgbClr val="25253A"/>
          </a:solidFill>
          <a:ln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53766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4500"/>
                </a:solidFill>
                <a:latin typeface="Microsoft YaHei"/>
              </a:rPr>
              <a:t>同一情境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5303520"/>
            <a:ext cx="1280160" cy="457200"/>
          </a:xfrm>
          <a:prstGeom prst="roundRect">
            <a:avLst/>
          </a:prstGeom>
          <a:solidFill>
            <a:srgbClr val="25253A"/>
          </a:solidFill>
          <a:ln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53766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4500"/>
                </a:solidFill>
                <a:latin typeface="Microsoft YaHei"/>
              </a:rPr>
              <a:t>即时对白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5303520"/>
            <a:ext cx="1280160" cy="457200"/>
          </a:xfrm>
          <a:prstGeom prst="roundRect">
            <a:avLst/>
          </a:prstGeom>
          <a:solidFill>
            <a:srgbClr val="25253A"/>
          </a:solidFill>
          <a:ln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53766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4500"/>
                </a:solidFill>
                <a:latin typeface="Microsoft YaHei"/>
              </a:rPr>
              <a:t>火花标记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5303520"/>
            <a:ext cx="1280160" cy="457200"/>
          </a:xfrm>
          <a:prstGeom prst="roundRect">
            <a:avLst/>
          </a:prstGeom>
          <a:solidFill>
            <a:srgbClr val="25253A"/>
          </a:solidFill>
          <a:ln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53766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4500"/>
                </a:solidFill>
                <a:latin typeface="Microsoft YaHei"/>
              </a:rPr>
              <a:t>AI串联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4500"/>
                </a:solidFill>
                <a:latin typeface="Microsoft YaHei"/>
              </a:rPr>
              <a:t>模式一：单人灵感积累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1371600"/>
            <a:ext cx="2743200" cy="4572000"/>
          </a:xfrm>
          <a:prstGeom prst="roundRect">
            <a:avLst/>
          </a:prstGeom>
          <a:solidFill>
            <a:srgbClr val="111122"/>
          </a:solidFill>
          <a:ln w="381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8328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深夜急诊室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103120"/>
            <a:ext cx="2194560" cy="10972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99"/>
                </a:solidFill>
                <a:latin typeface="Microsoft YaHei"/>
              </a:rPr>
              <a:t>外卖员因</a:t>
            </a:r>
            <a:br/>
            <a:r>
              <a:rPr sz="1200" b="0">
                <a:solidFill>
                  <a:srgbClr val="888899"/>
                </a:solidFill>
                <a:latin typeface="Microsoft YaHei"/>
              </a:rPr>
              <a:t>过度劳累晕倒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474720"/>
            <a:ext cx="2194560" cy="731520"/>
          </a:xfrm>
          <a:prstGeom prst="round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3611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icrosoft YaHei"/>
              </a:rPr>
              <a:t>你首先会关注</a:t>
            </a:r>
            <a:br/>
            <a:r>
              <a:rPr sz="1100" b="0">
                <a:solidFill>
                  <a:srgbClr val="1A1A2E"/>
                </a:solidFill>
                <a:latin typeface="Microsoft YaHei"/>
              </a:rPr>
              <a:t>哪些生命体征？</a:t>
            </a:r>
          </a:p>
        </p:txBody>
      </p:sp>
      <p:sp>
        <p:nvSpPr>
          <p:cNvPr id="9" name="Oval 8"/>
          <p:cNvSpPr/>
          <p:nvPr/>
        </p:nvSpPr>
        <p:spPr>
          <a:xfrm>
            <a:off x="4297680" y="4480560"/>
            <a:ext cx="548640" cy="548640"/>
          </a:xfrm>
          <a:prstGeom prst="ellipse">
            <a:avLst/>
          </a:prstGeom>
          <a:solidFill>
            <a:srgbClr val="333344"/>
          </a:solidFill>
          <a:ln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4572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4500"/>
                </a:solidFill>
                <a:latin typeface="Microsoft YaHei"/>
              </a:rPr>
              <a:t>mic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选身份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43200"/>
            <a:ext cx="548640" cy="54864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34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刷脑洞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AI催化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937759"/>
            <a:ext cx="548640" cy="54864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2919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02919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存素材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828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>
                <a:solidFill>
                  <a:srgbClr val="FF4500"/>
                </a:solidFill>
                <a:latin typeface="Microsoft YaHei"/>
              </a:rPr>
              <a:t>5 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888899"/>
                </a:solidFill>
                <a:latin typeface="Microsoft YaHei"/>
              </a:rPr>
              <a:t>职业标签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00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>
                <a:solidFill>
                  <a:srgbClr val="FF4500"/>
                </a:solidFill>
                <a:latin typeface="Microsoft YaHei"/>
              </a:rPr>
              <a:t>60+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888899"/>
                </a:solidFill>
                <a:latin typeface="Microsoft YaHei"/>
              </a:rPr>
              <a:t>引导问题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4500"/>
                </a:solidFill>
                <a:latin typeface="Microsoft YaHei"/>
              </a:rPr>
              <a:t>模式二：双人即兴碰撞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645920" cy="1645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医生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先推肾上腺素！</a:t>
            </a:r>
            <a:br/>
            <a:r>
              <a:rPr sz="1400" b="0">
                <a:solidFill>
                  <a:srgbClr val="FFFFFF"/>
                </a:solidFill>
                <a:latin typeface="Microsoft YaHei"/>
              </a:rPr>
              <a:t>患者室颤了</a:t>
            </a:r>
          </a:p>
        </p:txBody>
      </p:sp>
      <p:sp>
        <p:nvSpPr>
          <p:cNvPr id="6" name="Oval 5"/>
          <p:cNvSpPr/>
          <p:nvPr/>
        </p:nvSpPr>
        <p:spPr>
          <a:xfrm>
            <a:off x="6126480" y="2011680"/>
            <a:ext cx="1645920" cy="16459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导演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840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等等，情绪高潮</a:t>
            </a:r>
            <a:br/>
            <a:r>
              <a:rPr sz="1400" b="0">
                <a:solidFill>
                  <a:srgbClr val="FFFFFF"/>
                </a:solidFill>
                <a:latin typeface="Microsoft YaHei"/>
              </a:rPr>
              <a:t>应该在后面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834640"/>
            <a:ext cx="2743200" cy="73152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06240" y="2560320"/>
            <a:ext cx="914400" cy="91440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2880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Microsoft YaHei"/>
              </a:rPr>
              <a:t>碰撞</a:t>
            </a:r>
          </a:p>
        </p:txBody>
      </p:sp>
      <p:sp>
        <p:nvSpPr>
          <p:cNvPr id="12" name="5-Point Star 11"/>
          <p:cNvSpPr/>
          <p:nvPr/>
        </p:nvSpPr>
        <p:spPr>
          <a:xfrm>
            <a:off x="4389120" y="3840480"/>
            <a:ext cx="548640" cy="548640"/>
          </a:xfrm>
          <a:prstGeom prst="star5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480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D700"/>
                </a:solidFill>
                <a:latin typeface="Microsoft YaHei"/>
              </a:rPr>
              <a:t>标记为火花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4500"/>
                </a:solidFill>
                <a:latin typeface="Microsoft YaHei"/>
              </a:rPr>
              <a:t>60秒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Microsoft YaHei"/>
              </a:rPr>
              <a:t>匹配等待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4500"/>
                </a:solidFill>
                <a:latin typeface="Microsoft YaHei"/>
              </a:rPr>
              <a:t>WebSocket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99"/>
                </a:solidFill>
                <a:latin typeface="Microsoft YaHei"/>
              </a:rPr>
              <a:t>毫秒级同步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FF4500"/>
                </a:solidFill>
                <a:latin typeface="Microsoft YaHei"/>
              </a:rPr>
              <a:t>AI串联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8899"/>
                </a:solidFill>
                <a:latin typeface="Microsoft YaHei"/>
              </a:rPr>
              <a:t>剧本自动生成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4500"/>
                </a:solidFill>
                <a:latin typeface="Microsoft YaHei"/>
              </a:rPr>
              <a:t>模式三：多人剧本共创</a:t>
            </a:r>
          </a:p>
        </p:txBody>
      </p:sp>
      <p:sp>
        <p:nvSpPr>
          <p:cNvPr id="3" name="Oval 2"/>
          <p:cNvSpPr/>
          <p:nvPr/>
        </p:nvSpPr>
        <p:spPr>
          <a:xfrm>
            <a:off x="3749039" y="1371600"/>
            <a:ext cx="1645920" cy="164592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749039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1A2E"/>
                </a:solidFill>
                <a:latin typeface="Microsoft YaHei"/>
              </a:rPr>
              <a:t>导演</a:t>
            </a:r>
          </a:p>
        </p:txBody>
      </p:sp>
      <p:sp>
        <p:nvSpPr>
          <p:cNvPr id="5" name="Oval 4"/>
          <p:cNvSpPr/>
          <p:nvPr/>
        </p:nvSpPr>
        <p:spPr>
          <a:xfrm>
            <a:off x="2011680" y="2286000"/>
            <a:ext cx="1097280" cy="1097280"/>
          </a:xfrm>
          <a:prstGeom prst="ellipse">
            <a:avLst/>
          </a:prstGeom>
          <a:solidFill>
            <a:srgbClr val="25253A"/>
          </a:solidFill>
          <a:ln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651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医生</a:t>
            </a:r>
          </a:p>
        </p:txBody>
      </p:sp>
      <p:sp>
        <p:nvSpPr>
          <p:cNvPr id="7" name="Oval 6"/>
          <p:cNvSpPr/>
          <p:nvPr/>
        </p:nvSpPr>
        <p:spPr>
          <a:xfrm>
            <a:off x="6217920" y="2286000"/>
            <a:ext cx="1097280" cy="1097280"/>
          </a:xfrm>
          <a:prstGeom prst="ellipse">
            <a:avLst/>
          </a:prstGeom>
          <a:solidFill>
            <a:srgbClr val="25253A"/>
          </a:solidFill>
          <a:ln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651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护士</a:t>
            </a:r>
          </a:p>
        </p:txBody>
      </p:sp>
      <p:sp>
        <p:nvSpPr>
          <p:cNvPr id="9" name="Oval 8"/>
          <p:cNvSpPr/>
          <p:nvPr/>
        </p:nvSpPr>
        <p:spPr>
          <a:xfrm>
            <a:off x="1645920" y="3840480"/>
            <a:ext cx="1097280" cy="1097280"/>
          </a:xfrm>
          <a:prstGeom prst="ellipse">
            <a:avLst/>
          </a:prstGeom>
          <a:solidFill>
            <a:srgbClr val="25253A"/>
          </a:solidFill>
          <a:ln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家属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0" y="3840480"/>
            <a:ext cx="1097280" cy="1097280"/>
          </a:xfrm>
          <a:prstGeom prst="ellipse">
            <a:avLst/>
          </a:prstGeom>
          <a:solidFill>
            <a:srgbClr val="25253A"/>
          </a:solidFill>
          <a:ln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律师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4389120"/>
            <a:ext cx="1097280" cy="457200"/>
          </a:xfrm>
          <a:prstGeom prst="roundRect">
            <a:avLst/>
          </a:prstGeom>
          <a:solidFill>
            <a:srgbClr val="25253A"/>
          </a:solidFill>
          <a:ln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44622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4500"/>
                </a:solidFill>
                <a:latin typeface="Microsoft YaHei"/>
              </a:rPr>
              <a:t>暂停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4389120"/>
            <a:ext cx="1097280" cy="457200"/>
          </a:xfrm>
          <a:prstGeom prst="roundRect">
            <a:avLst/>
          </a:prstGeom>
          <a:solidFill>
            <a:srgbClr val="25253A"/>
          </a:solidFill>
          <a:ln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44622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4500"/>
                </a:solidFill>
                <a:latin typeface="Microsoft YaHei"/>
              </a:rPr>
              <a:t>投票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4389120"/>
            <a:ext cx="1097280" cy="457200"/>
          </a:xfrm>
          <a:prstGeom prst="roundRect">
            <a:avLst/>
          </a:prstGeom>
          <a:solidFill>
            <a:srgbClr val="25253A"/>
          </a:solidFill>
          <a:ln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44622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4500"/>
                </a:solidFill>
                <a:latin typeface="Microsoft YaHei"/>
              </a:rPr>
              <a:t>杀青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1188720" cy="411480"/>
          </a:xfrm>
          <a:prstGeom prst="roundRect">
            <a:avLst/>
          </a:prstGeom>
          <a:solidFill>
            <a:srgbClr val="25253A"/>
          </a:solidFill>
          <a:ln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5595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创建副本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0240" y="5486400"/>
            <a:ext cx="1188720" cy="411480"/>
          </a:xfrm>
          <a:prstGeom prst="roundRect">
            <a:avLst/>
          </a:prstGeom>
          <a:solidFill>
            <a:srgbClr val="25253A"/>
          </a:solidFill>
          <a:ln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55595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认领角色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5486400"/>
            <a:ext cx="1188720" cy="411480"/>
          </a:xfrm>
          <a:prstGeom prst="roundRect">
            <a:avLst/>
          </a:prstGeom>
          <a:solidFill>
            <a:srgbClr val="25253A"/>
          </a:solidFill>
          <a:ln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55595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导演控场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5486400"/>
            <a:ext cx="1188720" cy="411480"/>
          </a:xfrm>
          <a:prstGeom prst="roundRect">
            <a:avLst/>
          </a:prstGeom>
          <a:solidFill>
            <a:srgbClr val="25253A"/>
          </a:solidFill>
          <a:ln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55595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投票决策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5486400"/>
            <a:ext cx="1188720" cy="411480"/>
          </a:xfrm>
          <a:prstGeom prst="roundRect">
            <a:avLst/>
          </a:prstGeom>
          <a:solidFill>
            <a:srgbClr val="25253A"/>
          </a:solidFill>
          <a:ln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55595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AI串联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5486400"/>
            <a:ext cx="1188720" cy="411480"/>
          </a:xfrm>
          <a:prstGeom prst="roundRect">
            <a:avLst/>
          </a:prstGeom>
          <a:solidFill>
            <a:srgbClr val="25253A"/>
          </a:solidFill>
          <a:ln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55595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署名墙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4500"/>
                </a:solidFill>
                <a:latin typeface="Microsoft YaHei"/>
              </a:rPr>
              <a:t>技术架构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371600"/>
            <a:ext cx="4572000" cy="8229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600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Next.js 16 + React 19 + Tailwind v4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377440"/>
            <a:ext cx="4572000" cy="8229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606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API Routes + NextAuth + Zod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383280"/>
            <a:ext cx="4572000" cy="82296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611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Socket.io + match-engine + room-manager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4389120"/>
            <a:ext cx="457200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4617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Prisma 7 + 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888899"/>
                </a:solidFill>
                <a:latin typeface="Microsoft YaHei"/>
              </a:rPr>
              <a:t>前端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888899"/>
                </a:solidFill>
                <a:latin typeface="Microsoft YaHei"/>
              </a:rPr>
              <a:t>API层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888899"/>
                </a:solidFill>
                <a:latin typeface="Microsoft YaHei"/>
              </a:rPr>
              <a:t>业务层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888899"/>
                </a:solidFill>
                <a:latin typeface="Microsoft YaHei"/>
              </a:rPr>
              <a:t>数据层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828800"/>
            <a:ext cx="1371600" cy="1371600"/>
          </a:xfrm>
          <a:prstGeom prst="roundRect">
            <a:avLst/>
          </a:prstGeom>
          <a:solidFill>
            <a:srgbClr val="114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286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DeepSeek</a:t>
            </a:r>
            <a:br/>
            <a:r>
              <a:rPr sz="1400" b="1">
                <a:solidFill>
                  <a:srgbClr val="FFFFFF"/>
                </a:solidFill>
                <a:latin typeface="Microsoft YaHei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22C55E"/>
                </a:solidFill>
                <a:latin typeface="Microsoft YaHei"/>
              </a:rPr>
              <a:t>216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035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99"/>
                </a:solidFill>
                <a:latin typeface="Microsoft YaHei"/>
              </a:rPr>
              <a:t>Tests Passed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3035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4500"/>
                </a:solidFill>
                <a:latin typeface="Microsoft YaHei"/>
              </a:rPr>
              <a:t>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035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99"/>
                </a:solidFill>
                <a:latin typeface="Microsoft YaHei"/>
              </a:rPr>
              <a:t>Test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03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22C55E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035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99"/>
                </a:solidFill>
                <a:latin typeface="Microsoft YaHei"/>
              </a:rPr>
              <a:t>Failed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4500"/>
                </a:solidFill>
                <a:latin typeface="Microsoft YaHei"/>
              </a:rPr>
              <a:t>商业模式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4114800"/>
            <a:ext cx="6400800" cy="10972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4343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2E"/>
                </a:solidFill>
                <a:latin typeface="Microsoft YaHei"/>
              </a:rPr>
              <a:t>C 端免费增值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846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  <a:latin typeface="Microsoft YaHei"/>
              </a:rPr>
              <a:t>基础免费 + AI高级功能付费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743200"/>
            <a:ext cx="4572000" cy="10972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2971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2E"/>
                </a:solidFill>
                <a:latin typeface="Microsoft YaHei"/>
              </a:rPr>
              <a:t>B 端内容采购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  <a:latin typeface="Microsoft YaHei"/>
              </a:rPr>
              <a:t>微短剧公司 / 互动小说平台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371600"/>
            <a:ext cx="2743200" cy="1097280"/>
          </a:xfrm>
          <a:prstGeom prst="round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00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2E"/>
                </a:solidFill>
                <a:latin typeface="Microsoft YaHei"/>
              </a:rPr>
              <a:t>IP 共创分润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  <a:latin typeface="Microsoft YaHei"/>
              </a:rPr>
              <a:t>剧本 / 短剧 / 有声书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4500"/>
                </a:solidFill>
                <a:latin typeface="Microsoft YaHei"/>
              </a:rPr>
              <a:t>里程碑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7315200" cy="54864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3017520"/>
            <a:ext cx="365760" cy="36576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4500"/>
                </a:solidFill>
                <a:latin typeface="Microsoft YaHei"/>
              </a:rPr>
              <a:t>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匹配引擎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  <a:latin typeface="Microsoft YaHei"/>
              </a:rPr>
              <a:t>9 tests</a:t>
            </a:r>
          </a:p>
        </p:txBody>
      </p:sp>
      <p:sp>
        <p:nvSpPr>
          <p:cNvPr id="8" name="Oval 7"/>
          <p:cNvSpPr/>
          <p:nvPr/>
        </p:nvSpPr>
        <p:spPr>
          <a:xfrm>
            <a:off x="2743200" y="3017520"/>
            <a:ext cx="365760" cy="36576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4500"/>
                </a:solidFill>
                <a:latin typeface="Microsoft YaHei"/>
              </a:rPr>
              <a:t>P2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5661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房间管理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114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  <a:latin typeface="Microsoft YaHei"/>
              </a:rPr>
              <a:t>16 tests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3017520"/>
            <a:ext cx="365760" cy="36576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4500"/>
                </a:solidFill>
                <a:latin typeface="Microsoft YaHei"/>
              </a:rPr>
              <a:t>P3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5661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WebSocket</a:t>
            </a:r>
            <a:br/>
            <a:r>
              <a:rPr sz="1400" b="0">
                <a:solidFill>
                  <a:srgbClr val="FFFFFF"/>
                </a:solidFill>
                <a:latin typeface="Microsoft YaHei"/>
              </a:rPr>
              <a:t>+ AI串联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114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  <a:latin typeface="Microsoft YaHei"/>
              </a:rPr>
              <a:t>21 tests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0" y="3017520"/>
            <a:ext cx="365760" cy="36576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4500"/>
                </a:solidFill>
                <a:latin typeface="Microsoft YaHei"/>
              </a:rPr>
              <a:t>P4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5661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TDD全覆盖</a:t>
            </a:r>
            <a:br/>
            <a:r>
              <a:rPr sz="1400" b="0">
                <a:solidFill>
                  <a:srgbClr val="FFFFFF"/>
                </a:solidFill>
                <a:latin typeface="Microsoft YaHei"/>
              </a:rPr>
              <a:t>+ AI催化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114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  <a:latin typeface="Microsoft YaHei"/>
              </a:rPr>
              <a:t>216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22C55E"/>
                </a:solidFill>
                <a:latin typeface="Microsoft YaHei"/>
              </a:rPr>
              <a:t>216 / 216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99"/>
                </a:solidFill>
                <a:latin typeface="Microsoft YaHei"/>
              </a:rPr>
              <a:t>All Tests Passed  |  23 Test Files  |  22 API Routes Covered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4572000"/>
            <a:ext cx="2743200" cy="274320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4500"/>
                </a:solidFill>
                <a:latin typeface="Microsoft YaHei"/>
              </a:rPr>
              <a:t>最好的故事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Microsoft YaHei"/>
              </a:rPr>
              <a:t>不是一个人关在房间里写出来的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D700"/>
                </a:solidFill>
                <a:latin typeface="Microsoft YaHei"/>
              </a:rPr>
              <a:t>而是让真实的人在真实的情境中碰撞出来的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4500"/>
                </a:solidFill>
                <a:latin typeface="Microsoft YaHei"/>
              </a:rPr>
              <a:t>谢谢大家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99"/>
                </a:solidFill>
                <a:latin typeface="Microsoft YaHei"/>
              </a:rPr>
              <a:t>github.com/qunxiang-xinghuo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